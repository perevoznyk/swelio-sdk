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59" r:id="rId3"/>
    <p:sldId id="311" r:id="rId4"/>
    <p:sldId id="340" r:id="rId5"/>
    <p:sldId id="341" r:id="rId6"/>
    <p:sldId id="351" r:id="rId7"/>
    <p:sldId id="353" r:id="rId8"/>
    <p:sldId id="361" r:id="rId9"/>
    <p:sldId id="362" r:id="rId10"/>
    <p:sldId id="363" r:id="rId11"/>
    <p:sldId id="352" r:id="rId12"/>
    <p:sldId id="354" r:id="rId13"/>
    <p:sldId id="308" r:id="rId14"/>
    <p:sldId id="360" r:id="rId15"/>
    <p:sldId id="364" r:id="rId16"/>
    <p:sldId id="287"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59" autoAdjust="0"/>
    <p:restoredTop sz="94660"/>
  </p:normalViewPr>
  <p:slideViewPr>
    <p:cSldViewPr snapToGrid="0">
      <p:cViewPr varScale="1">
        <p:scale>
          <a:sx n="82" d="100"/>
          <a:sy n="82" d="100"/>
        </p:scale>
        <p:origin x="62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089894-CCEE-9F65-DC8F-244AE8B0D00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1B86B3B2-0906-8C47-41C9-28FF77CC0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065ADC87-4105-4DE1-1122-B3721F3D1868}"/>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D2037D10-E567-88B3-DE4E-943C6E28EDC1}"/>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E824742-A387-CB38-B920-85FDBF9D1808}"/>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3445686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E1C7E5-4526-D8FF-4828-7BC5A0C5D744}"/>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647C7776-0F74-99AA-9E76-9F87443B7B1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20DC5CC4-1378-33C4-49CC-5F06DBBA789C}"/>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14095D15-EC84-3C96-1A6F-B912B1E5F28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78C9C3AA-8831-EA49-00D9-0EF96DC19B84}"/>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242853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1C3943-400F-D11E-63F3-6A525E706A6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B8BE7030-DBF0-5B04-9F35-5E0CA5431F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99CE604-B397-C642-AB5F-3C01572757BD}"/>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64429F8F-8523-B8A0-A3F8-E4CBEEB84D3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9A20330E-4690-C968-6A4B-459943DD595D}"/>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4005964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C75107-3F4D-7C56-9C78-D21DA607F3E5}"/>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15AD6755-D43E-D159-20CD-74A89AC0C4B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7D1CCE4C-56A4-BD88-3319-05929726EFE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1E3A3FF5-9D0E-2EDF-F25F-E2C6396D57F4}"/>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6" name="Espace réservé du pied de page 5">
            <a:extLst>
              <a:ext uri="{FF2B5EF4-FFF2-40B4-BE49-F238E27FC236}">
                <a16:creationId xmlns:a16="http://schemas.microsoft.com/office/drawing/2014/main" id="{15577D3B-C453-F751-1D84-D59798C11292}"/>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AE7C4AD2-54C0-1EEC-86FB-263980D72343}"/>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3711570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56A427-BAC4-E421-F3EE-13C89A518A1B}"/>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E9062F99-59A1-A808-F75E-D3550B5163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F315F28-0EC0-44E4-398C-DE2B5ECD617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BA8BEC72-4E04-825D-10AB-0CC83EBE0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E039375-5FA1-2029-269C-C48076A15DF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9A69E13B-A77D-73B7-F889-EBE6DC213F72}"/>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8" name="Espace réservé du pied de page 7">
            <a:extLst>
              <a:ext uri="{FF2B5EF4-FFF2-40B4-BE49-F238E27FC236}">
                <a16:creationId xmlns:a16="http://schemas.microsoft.com/office/drawing/2014/main" id="{D5B9B004-76CC-CC1F-8DDA-AEB1790CA4F6}"/>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DE83CD31-E648-B2A1-0B46-E12EB4DD9D4C}"/>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108247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5B4B77-36B8-9E02-0552-5E95AC4A790E}"/>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97E5CC53-09A2-D6D9-3B2B-9A6F53402AA0}"/>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4" name="Espace réservé du pied de page 3">
            <a:extLst>
              <a:ext uri="{FF2B5EF4-FFF2-40B4-BE49-F238E27FC236}">
                <a16:creationId xmlns:a16="http://schemas.microsoft.com/office/drawing/2014/main" id="{7F60B377-B777-B114-D2BE-9D45CD99A8B6}"/>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D14A8686-AF0F-BCFE-2E18-929CAA7C40D7}"/>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13484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00E8946-61C8-B06E-C22D-ADBC54B82ECC}"/>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3" name="Espace réservé du pied de page 2">
            <a:extLst>
              <a:ext uri="{FF2B5EF4-FFF2-40B4-BE49-F238E27FC236}">
                <a16:creationId xmlns:a16="http://schemas.microsoft.com/office/drawing/2014/main" id="{D0BFC9D2-2B29-4F66-9B99-5B0330AD603C}"/>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EBD4BB25-0962-530F-EBCC-21ADC2DFB159}"/>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3629222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0DB706-2E04-1F24-2DE0-3FE502AB5BE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3FB241EB-105B-B66B-3D9C-529AB2495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04C2DD13-BF08-785A-9A8D-9FE288454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741F1BB-C3C3-5B7E-2564-CF341850DF30}"/>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6" name="Espace réservé du pied de page 5">
            <a:extLst>
              <a:ext uri="{FF2B5EF4-FFF2-40B4-BE49-F238E27FC236}">
                <a16:creationId xmlns:a16="http://schemas.microsoft.com/office/drawing/2014/main" id="{BF19CC85-F7A7-D8E9-7AD5-77EDA5835C09}"/>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F3FCB5F4-15FC-74AB-AFBD-41C663F710F4}"/>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1483612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F4C100-B822-55A2-0AFA-B7C4965E88F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87F06928-ED1F-3451-04CF-01C19AF403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BBF8ADB3-AD8C-DE44-678D-0D90E53AD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2F87C5E-A5BE-8A69-C900-44EA54EEDDCF}"/>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6" name="Espace réservé du pied de page 5">
            <a:extLst>
              <a:ext uri="{FF2B5EF4-FFF2-40B4-BE49-F238E27FC236}">
                <a16:creationId xmlns:a16="http://schemas.microsoft.com/office/drawing/2014/main" id="{8E1AB25C-F2D8-2E6B-B29B-B3DA631C320B}"/>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927A4CA9-0EB9-7BCE-674B-2BA573883868}"/>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2311378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63137F-31FF-8149-E5B9-1735964AE46B}"/>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1EC588F4-2465-4408-68BC-11499666215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166B26ED-071F-A68E-B138-7301E62C1243}"/>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3B0AF086-4AC8-5DB2-BEAB-E471177AFE9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4560ADA5-86EB-67F1-FB79-81C8A6F2815C}"/>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179618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AC6C63B-D28D-6B90-E381-2918D3A8ECC3}"/>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E97974B0-3C0F-80DC-3E1F-67AA9B38253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9FBD24CE-AF3B-F736-F3DC-B21A15B5334A}"/>
              </a:ext>
            </a:extLst>
          </p:cNvPr>
          <p:cNvSpPr>
            <a:spLocks noGrp="1"/>
          </p:cNvSpPr>
          <p:nvPr>
            <p:ph type="dt" sz="half" idx="10"/>
          </p:nvPr>
        </p:nvSpPr>
        <p:spPr/>
        <p:txBody>
          <a:body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C88EBE44-3A68-7D97-9B6C-12753A3FC634}"/>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96952295-6E60-EED3-4592-9FEB9B6A41D2}"/>
              </a:ext>
            </a:extLst>
          </p:cNvPr>
          <p:cNvSpPr>
            <a:spLocks noGrp="1"/>
          </p:cNvSpPr>
          <p:nvPr>
            <p:ph type="sldNum" sz="quarter" idx="12"/>
          </p:nvPr>
        </p:nvSpPr>
        <p:spPr/>
        <p:txBody>
          <a:bodyPr/>
          <a:lstStyle/>
          <a:p>
            <a:fld id="{0CBE5EE0-2BA5-4791-A20C-AD208CAE406D}" type="slidenum">
              <a:rPr lang="fr-BE" smtClean="0"/>
              <a:t>‹N°›</a:t>
            </a:fld>
            <a:endParaRPr lang="fr-BE"/>
          </a:p>
        </p:txBody>
      </p:sp>
    </p:spTree>
    <p:extLst>
      <p:ext uri="{BB962C8B-B14F-4D97-AF65-F5344CB8AC3E}">
        <p14:creationId xmlns:p14="http://schemas.microsoft.com/office/powerpoint/2010/main" val="2608812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1A5446B-0B80-A1DA-8321-6EBF31084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7AFEB2AC-E0E4-AE5A-79A9-E68D9F4A1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4E96796F-B537-B4A4-3442-8E6FC6B101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6B28FB-8517-4BBF-93F3-96E7C75BADC1}" type="datetimeFigureOut">
              <a:rPr lang="fr-BE" smtClean="0"/>
              <a:t>01-12-25</a:t>
            </a:fld>
            <a:endParaRPr lang="fr-BE"/>
          </a:p>
        </p:txBody>
      </p:sp>
      <p:sp>
        <p:nvSpPr>
          <p:cNvPr id="5" name="Espace réservé du pied de page 4">
            <a:extLst>
              <a:ext uri="{FF2B5EF4-FFF2-40B4-BE49-F238E27FC236}">
                <a16:creationId xmlns:a16="http://schemas.microsoft.com/office/drawing/2014/main" id="{F16CDF27-5958-A3A9-1096-7754F950C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294EBA67-D6D9-0401-E98C-40C0D39DCB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E5EE0-2BA5-4791-A20C-AD208CAE406D}" type="slidenum">
              <a:rPr lang="fr-BE" smtClean="0"/>
              <a:t>‹N°›</a:t>
            </a:fld>
            <a:endParaRPr lang="fr-BE"/>
          </a:p>
        </p:txBody>
      </p:sp>
    </p:spTree>
    <p:extLst>
      <p:ext uri="{BB962C8B-B14F-4D97-AF65-F5344CB8AC3E}">
        <p14:creationId xmlns:p14="http://schemas.microsoft.com/office/powerpoint/2010/main" val="289776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2ABF4-D831-C4EA-4295-DF441FDB8290}"/>
              </a:ext>
            </a:extLst>
          </p:cNvPr>
          <p:cNvSpPr>
            <a:spLocks noGrp="1"/>
          </p:cNvSpPr>
          <p:nvPr>
            <p:ph type="ctrTitle"/>
          </p:nvPr>
        </p:nvSpPr>
        <p:spPr/>
        <p:txBody>
          <a:bodyPr>
            <a:normAutofit fontScale="90000"/>
          </a:bodyPr>
          <a:lstStyle/>
          <a:p>
            <a:r>
              <a:rPr lang="nl-NL" dirty="0"/>
              <a:t>Project </a:t>
            </a:r>
            <a:r>
              <a:rPr lang="nl-NL" dirty="0" err="1"/>
              <a:t>rQSCD</a:t>
            </a:r>
            <a:r>
              <a:rPr lang="nl-NL" dirty="0"/>
              <a:t> – Dienst voor Gekwalificeerde Elektronische Handtekeningen op Afstand</a:t>
            </a:r>
            <a:endParaRPr lang="fr-BE" dirty="0"/>
          </a:p>
        </p:txBody>
      </p:sp>
      <p:sp>
        <p:nvSpPr>
          <p:cNvPr id="3" name="Sous-titre 2">
            <a:extLst>
              <a:ext uri="{FF2B5EF4-FFF2-40B4-BE49-F238E27FC236}">
                <a16:creationId xmlns:a16="http://schemas.microsoft.com/office/drawing/2014/main" id="{93C0A9C3-26B5-30CC-D8FA-E1FDFAB12C3D}"/>
              </a:ext>
            </a:extLst>
          </p:cNvPr>
          <p:cNvSpPr>
            <a:spLocks noGrp="1"/>
          </p:cNvSpPr>
          <p:nvPr>
            <p:ph type="subTitle" idx="1"/>
          </p:nvPr>
        </p:nvSpPr>
        <p:spPr/>
        <p:txBody>
          <a:bodyPr/>
          <a:lstStyle/>
          <a:p>
            <a:r>
              <a:rPr lang="nl-NL" dirty="0"/>
              <a:t>Opzet van een federale dienst voor gekwalificeerde elektronische handtekeningen op afstand</a:t>
            </a:r>
            <a:endParaRPr lang="fr-BE" dirty="0"/>
          </a:p>
        </p:txBody>
      </p:sp>
    </p:spTree>
    <p:extLst>
      <p:ext uri="{BB962C8B-B14F-4D97-AF65-F5344CB8AC3E}">
        <p14:creationId xmlns:p14="http://schemas.microsoft.com/office/powerpoint/2010/main" val="1281050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733928" y="270763"/>
            <a:ext cx="8705850" cy="830997"/>
          </a:xfrm>
          <a:prstGeom prst="rect">
            <a:avLst/>
          </a:prstGeom>
          <a:noFill/>
        </p:spPr>
        <p:txBody>
          <a:bodyPr wrap="square" rtlCol="0">
            <a:spAutoFit/>
          </a:bodyPr>
          <a:lstStyle/>
          <a:p>
            <a:r>
              <a:rPr lang="nl-BE" sz="4800" b="1" dirty="0">
                <a:ea typeface="Cascadia Code SemiBold" panose="020B0609020000020004" pitchFamily="49" charset="0"/>
                <a:cs typeface="Dubai Medium" panose="020B0603030403030204" pitchFamily="34" charset="-78"/>
              </a:rPr>
              <a:t>Doelstellingen</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8D55F021-7FAC-95CE-98BC-63CBB42D9B01}"/>
              </a:ext>
            </a:extLst>
          </p:cNvPr>
          <p:cNvSpPr>
            <a:spLocks noGrp="1"/>
          </p:cNvSpPr>
          <p:nvPr>
            <p:ph idx="1"/>
          </p:nvPr>
        </p:nvSpPr>
        <p:spPr>
          <a:xfrm>
            <a:off x="829053" y="1664509"/>
            <a:ext cx="10515600" cy="4351338"/>
          </a:xfrm>
        </p:spPr>
        <p:txBody>
          <a:bodyPr>
            <a:normAutofit/>
          </a:bodyPr>
          <a:lstStyle/>
          <a:p>
            <a:r>
              <a:rPr lang="nl-NL" dirty="0"/>
              <a:t>Het globale kader van het </a:t>
            </a:r>
            <a:r>
              <a:rPr lang="nl-NL" dirty="0" err="1"/>
              <a:t>rQSCD</a:t>
            </a:r>
            <a:r>
              <a:rPr lang="nl-NL" dirty="0"/>
              <a:t>-project presenteren</a:t>
            </a:r>
          </a:p>
          <a:p>
            <a:r>
              <a:rPr lang="nl-NL" dirty="0"/>
              <a:t>Het Europese regelgevingskader van eIDAS 2.0 toelichten, dat een evolutie van de middelen voor gekwalificeerde handtekeningen verplicht stelt</a:t>
            </a:r>
          </a:p>
          <a:p>
            <a:r>
              <a:rPr lang="nl-NL" dirty="0"/>
              <a:t>De concrete impact voor de burgers verduidelijken, in het bijzonder het geleidelijke verlies van geldigheid van handtekeningcertificaten op de </a:t>
            </a:r>
            <a:r>
              <a:rPr lang="nl-NL" dirty="0" err="1"/>
              <a:t>eID</a:t>
            </a:r>
            <a:r>
              <a:rPr lang="nl-NL" dirty="0"/>
              <a:t> vanaf 2026</a:t>
            </a:r>
          </a:p>
          <a:p>
            <a:r>
              <a:rPr lang="nl-NL" dirty="0"/>
              <a:t>Benadrukken dat eIDAS 2.0 de verplichting invoert om alle burgers gratis een oplossing voor de gekwalificeerde elektronische handtekening aan te bieden</a:t>
            </a:r>
          </a:p>
        </p:txBody>
      </p:sp>
    </p:spTree>
    <p:extLst>
      <p:ext uri="{BB962C8B-B14F-4D97-AF65-F5344CB8AC3E}">
        <p14:creationId xmlns:p14="http://schemas.microsoft.com/office/powerpoint/2010/main" val="113484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819275" y="261969"/>
            <a:ext cx="8705850" cy="830997"/>
          </a:xfrm>
          <a:prstGeom prst="rect">
            <a:avLst/>
          </a:prstGeom>
          <a:noFill/>
        </p:spPr>
        <p:txBody>
          <a:bodyPr wrap="square" rtlCol="0">
            <a:spAutoFit/>
          </a:bodyPr>
          <a:lstStyle/>
          <a:p>
            <a:r>
              <a:rPr lang="nl-BE" sz="4800" b="1" dirty="0" err="1">
                <a:ea typeface="Cascadia Code SemiBold" panose="020B0609020000020004" pitchFamily="49" charset="0"/>
                <a:cs typeface="Dubai Medium" panose="020B0603030403030204" pitchFamily="34" charset="-78"/>
              </a:rPr>
              <a:t>eIDAS</a:t>
            </a:r>
            <a:r>
              <a:rPr lang="nl-BE" sz="4800" b="1" dirty="0">
                <a:ea typeface="Cascadia Code SemiBold" panose="020B0609020000020004" pitchFamily="49" charset="0"/>
                <a:cs typeface="Dubai Medium" panose="020B0603030403030204" pitchFamily="34" charset="-78"/>
              </a:rPr>
              <a:t> 2.0 Verordening</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8D55F021-7FAC-95CE-98BC-63CBB42D9B01}"/>
              </a:ext>
            </a:extLst>
          </p:cNvPr>
          <p:cNvSpPr>
            <a:spLocks noGrp="1"/>
          </p:cNvSpPr>
          <p:nvPr>
            <p:ph idx="1"/>
          </p:nvPr>
        </p:nvSpPr>
        <p:spPr>
          <a:xfrm>
            <a:off x="419100" y="2115185"/>
            <a:ext cx="10515600" cy="4351338"/>
          </a:xfrm>
        </p:spPr>
        <p:txBody>
          <a:bodyPr>
            <a:normAutofit/>
          </a:bodyPr>
          <a:lstStyle/>
          <a:p>
            <a:pPr marL="0" indent="0">
              <a:buNone/>
            </a:pPr>
            <a:r>
              <a:rPr lang="fr-BE" b="1" dirty="0"/>
              <a:t>eIDAS 2.0 - </a:t>
            </a:r>
            <a:r>
              <a:rPr lang="fr-BE" b="1" dirty="0" err="1"/>
              <a:t>Verordening</a:t>
            </a:r>
            <a:endParaRPr lang="fr-BE" dirty="0"/>
          </a:p>
          <a:p>
            <a:r>
              <a:rPr lang="nl-NL" dirty="0"/>
              <a:t>Nieuwe Europese regelgeving betreffende digitale identificatie en </a:t>
            </a:r>
            <a:r>
              <a:rPr lang="nl-NL" dirty="0" err="1"/>
              <a:t>en</a:t>
            </a:r>
            <a:r>
              <a:rPr lang="nl-NL" dirty="0"/>
              <a:t> vertrouwensdiensten </a:t>
            </a:r>
          </a:p>
          <a:p>
            <a:pPr marL="0" indent="0">
              <a:buNone/>
            </a:pPr>
            <a:r>
              <a:rPr lang="nl-NL" dirty="0">
                <a:sym typeface="Wingdings" panose="05000000000000000000" pitchFamily="2" charset="2"/>
              </a:rPr>
              <a:t>	</a:t>
            </a:r>
            <a:r>
              <a:rPr lang="nl-NL" sz="2400" dirty="0"/>
              <a:t>Zij wijzigt en vult de eerste eIDAS-verordening (2014) aan</a:t>
            </a:r>
          </a:p>
          <a:p>
            <a:r>
              <a:rPr lang="fr-BE" dirty="0" err="1">
                <a:sym typeface="Wingdings" panose="05000000000000000000" pitchFamily="2" charset="2"/>
              </a:rPr>
              <a:t>Doelstelling</a:t>
            </a:r>
            <a:r>
              <a:rPr lang="fr-BE" dirty="0">
                <a:sym typeface="Wingdings" panose="05000000000000000000" pitchFamily="2" charset="2"/>
              </a:rPr>
              <a:t> </a:t>
            </a:r>
            <a:r>
              <a:rPr lang="nl-NL" dirty="0"/>
              <a:t>alle burgers en ondernemingen in Europa de mogelijkheid bieden zich online te identificeren en elektronische documenten op een veilige en overal in Europa erkende manier te ondertekenen</a:t>
            </a:r>
            <a:endParaRPr lang="fr-BE" dirty="0">
              <a:sym typeface="Wingdings" panose="05000000000000000000" pitchFamily="2" charset="2"/>
            </a:endParaRPr>
          </a:p>
        </p:txBody>
      </p:sp>
      <p:pic>
        <p:nvPicPr>
          <p:cNvPr id="5" name="Image 4">
            <a:extLst>
              <a:ext uri="{FF2B5EF4-FFF2-40B4-BE49-F238E27FC236}">
                <a16:creationId xmlns:a16="http://schemas.microsoft.com/office/drawing/2014/main" id="{88AB308F-926A-875F-F48C-FD155D24C5AD}"/>
              </a:ext>
            </a:extLst>
          </p:cNvPr>
          <p:cNvPicPr>
            <a:picLocks noChangeAspect="1"/>
          </p:cNvPicPr>
          <p:nvPr/>
        </p:nvPicPr>
        <p:blipFill>
          <a:blip r:embed="rId5"/>
          <a:stretch>
            <a:fillRect/>
          </a:stretch>
        </p:blipFill>
        <p:spPr>
          <a:xfrm>
            <a:off x="10157284" y="1337186"/>
            <a:ext cx="2034716" cy="2225233"/>
          </a:xfrm>
          <a:prstGeom prst="rect">
            <a:avLst/>
          </a:prstGeom>
        </p:spPr>
      </p:pic>
    </p:spTree>
    <p:extLst>
      <p:ext uri="{BB962C8B-B14F-4D97-AF65-F5344CB8AC3E}">
        <p14:creationId xmlns:p14="http://schemas.microsoft.com/office/powerpoint/2010/main" val="38436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EA9B8444-229F-17A8-8EC5-885B29ED12F4}"/>
              </a:ext>
            </a:extLst>
          </p:cNvPr>
          <p:cNvPicPr>
            <a:picLocks noChangeAspect="1"/>
          </p:cNvPicPr>
          <p:nvPr/>
        </p:nvPicPr>
        <p:blipFill>
          <a:blip r:embed="rId2"/>
          <a:stretch>
            <a:fillRect/>
          </a:stretch>
        </p:blipFill>
        <p:spPr>
          <a:xfrm>
            <a:off x="10001060" y="1459775"/>
            <a:ext cx="2190940" cy="2366215"/>
          </a:xfrm>
          <a:prstGeom prst="rect">
            <a:avLst/>
          </a:prstGeom>
        </p:spPr>
      </p:pic>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2001642" y="305702"/>
            <a:ext cx="8705850" cy="830997"/>
          </a:xfrm>
          <a:prstGeom prst="rect">
            <a:avLst/>
          </a:prstGeom>
          <a:noFill/>
        </p:spPr>
        <p:txBody>
          <a:bodyPr wrap="square" rtlCol="0">
            <a:spAutoFit/>
          </a:bodyPr>
          <a:lstStyle/>
          <a:p>
            <a:r>
              <a:rPr lang="nl-BE" sz="4800" b="1" dirty="0" err="1">
                <a:ea typeface="Cascadia Code SemiBold" panose="020B0609020000020004" pitchFamily="49" charset="0"/>
                <a:cs typeface="Dubai Medium" panose="020B0603030403030204" pitchFamily="34" charset="-78"/>
              </a:rPr>
              <a:t>eIDAS</a:t>
            </a:r>
            <a:r>
              <a:rPr lang="nl-BE" sz="4800" b="1" dirty="0">
                <a:ea typeface="Cascadia Code SemiBold" panose="020B0609020000020004" pitchFamily="49" charset="0"/>
                <a:cs typeface="Dubai Medium" panose="020B0603030403030204" pitchFamily="34" charset="-78"/>
              </a:rPr>
              <a:t> 2.0 verordening</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DA9D936A-6785-B8AB-5C98-95E634F078CC}"/>
              </a:ext>
            </a:extLst>
          </p:cNvPr>
          <p:cNvSpPr>
            <a:spLocks noGrp="1"/>
          </p:cNvSpPr>
          <p:nvPr>
            <p:ph idx="1"/>
          </p:nvPr>
        </p:nvSpPr>
        <p:spPr/>
        <p:txBody>
          <a:bodyPr>
            <a:normAutofit lnSpcReduction="10000"/>
          </a:bodyPr>
          <a:lstStyle/>
          <a:p>
            <a:pPr marL="0" indent="0">
              <a:buNone/>
            </a:pPr>
            <a:r>
              <a:rPr lang="nl-NL" dirty="0"/>
              <a:t>Wat verandert er met de eIDAS 2.0-verordening</a:t>
            </a:r>
            <a:endParaRPr lang="fr-BE" dirty="0"/>
          </a:p>
          <a:p>
            <a:pPr marL="514350" indent="-514350">
              <a:buAutoNum type="arabicPeriod"/>
            </a:pPr>
            <a:r>
              <a:rPr lang="fr-BE" b="1" dirty="0" err="1"/>
              <a:t>Een</a:t>
            </a:r>
            <a:r>
              <a:rPr lang="fr-BE" b="1" dirty="0"/>
              <a:t> digitale </a:t>
            </a:r>
            <a:r>
              <a:rPr lang="fr-BE" b="1" dirty="0" err="1"/>
              <a:t>identiteitsportefeuille</a:t>
            </a:r>
            <a:r>
              <a:rPr lang="fr-BE" b="1" dirty="0"/>
              <a:t> (Digital Identity </a:t>
            </a:r>
            <a:r>
              <a:rPr lang="fr-BE" b="1" dirty="0" err="1"/>
              <a:t>Wallet</a:t>
            </a:r>
            <a:r>
              <a:rPr lang="fr-BE" b="1" dirty="0"/>
              <a:t>)</a:t>
            </a:r>
          </a:p>
          <a:p>
            <a:pPr lvl="1"/>
            <a:r>
              <a:rPr lang="nl-NL" dirty="0"/>
              <a:t>Voor online authenticatie, het bewaren/delen van attesten en het elektronisch ondertekenen met een </a:t>
            </a:r>
            <a:r>
              <a:rPr lang="nl-NL" b="1" dirty="0"/>
              <a:t>gratis</a:t>
            </a:r>
            <a:r>
              <a:rPr lang="nl-NL" dirty="0"/>
              <a:t> gekwalificeerde handtekening</a:t>
            </a:r>
            <a:r>
              <a:rPr lang="fr-BE" dirty="0"/>
              <a:t>. </a:t>
            </a:r>
          </a:p>
          <a:p>
            <a:pPr lvl="1"/>
            <a:endParaRPr lang="fr-BE" dirty="0"/>
          </a:p>
          <a:p>
            <a:pPr marL="514350" indent="-514350">
              <a:buFont typeface="+mj-lt"/>
              <a:buAutoNum type="arabicPeriod"/>
            </a:pPr>
            <a:r>
              <a:rPr lang="fr-BE" b="1" dirty="0" err="1"/>
              <a:t>Nieuwe</a:t>
            </a:r>
            <a:r>
              <a:rPr lang="fr-BE" b="1" dirty="0"/>
              <a:t> regels </a:t>
            </a:r>
            <a:r>
              <a:rPr lang="fr-BE" b="1" dirty="0" err="1"/>
              <a:t>voor</a:t>
            </a:r>
            <a:r>
              <a:rPr lang="fr-BE" b="1" dirty="0"/>
              <a:t> </a:t>
            </a:r>
            <a:r>
              <a:rPr lang="fr-BE" b="1" dirty="0" err="1"/>
              <a:t>handtekeningmiddelen</a:t>
            </a:r>
            <a:endParaRPr lang="fr-BE" b="1" dirty="0"/>
          </a:p>
          <a:p>
            <a:pPr lvl="1"/>
            <a:r>
              <a:rPr lang="fr-BE" dirty="0"/>
              <a:t>De </a:t>
            </a:r>
            <a:r>
              <a:rPr lang="fr-BE" dirty="0" err="1"/>
              <a:t>certificeringsnormen</a:t>
            </a:r>
            <a:r>
              <a:rPr lang="fr-BE" dirty="0"/>
              <a:t> </a:t>
            </a:r>
            <a:r>
              <a:rPr lang="fr-BE" dirty="0" err="1"/>
              <a:t>evolueren</a:t>
            </a:r>
            <a:r>
              <a:rPr lang="fr-BE" dirty="0"/>
              <a:t>: QSCD-</a:t>
            </a:r>
            <a:r>
              <a:rPr lang="fr-BE" dirty="0" err="1"/>
              <a:t>certificering</a:t>
            </a:r>
            <a:r>
              <a:rPr lang="fr-BE" dirty="0"/>
              <a:t> (</a:t>
            </a:r>
            <a:r>
              <a:rPr lang="fr-BE" dirty="0" err="1"/>
              <a:t>Qualified</a:t>
            </a:r>
            <a:r>
              <a:rPr lang="fr-BE" dirty="0"/>
              <a:t> Signature </a:t>
            </a:r>
            <a:r>
              <a:rPr lang="fr-BE" dirty="0" err="1"/>
              <a:t>Creation</a:t>
            </a:r>
            <a:r>
              <a:rPr lang="fr-BE" dirty="0"/>
              <a:t> </a:t>
            </a:r>
            <a:r>
              <a:rPr lang="fr-BE" dirty="0" err="1"/>
              <a:t>Device</a:t>
            </a:r>
            <a:r>
              <a:rPr lang="fr-BE" dirty="0"/>
              <a:t>) </a:t>
            </a:r>
            <a:r>
              <a:rPr lang="fr-BE" dirty="0" err="1"/>
              <a:t>wordt</a:t>
            </a:r>
            <a:r>
              <a:rPr lang="fr-BE" dirty="0"/>
              <a:t> </a:t>
            </a:r>
            <a:r>
              <a:rPr lang="fr-BE" dirty="0" err="1"/>
              <a:t>beperkt</a:t>
            </a:r>
            <a:r>
              <a:rPr lang="fr-BE" dirty="0"/>
              <a:t> </a:t>
            </a:r>
            <a:r>
              <a:rPr lang="fr-BE" dirty="0" err="1"/>
              <a:t>tot</a:t>
            </a:r>
            <a:r>
              <a:rPr lang="fr-BE" dirty="0"/>
              <a:t> 5 </a:t>
            </a:r>
            <a:r>
              <a:rPr lang="fr-BE" dirty="0" err="1"/>
              <a:t>jaar</a:t>
            </a:r>
            <a:r>
              <a:rPr lang="fr-BE" dirty="0"/>
              <a:t> → de chips van de </a:t>
            </a:r>
            <a:r>
              <a:rPr lang="fr-BE" dirty="0" err="1"/>
              <a:t>huidige</a:t>
            </a:r>
            <a:r>
              <a:rPr lang="fr-BE" dirty="0"/>
              <a:t> </a:t>
            </a:r>
            <a:r>
              <a:rPr lang="fr-BE" dirty="0" err="1"/>
              <a:t>eID-kaarten</a:t>
            </a:r>
            <a:r>
              <a:rPr lang="fr-BE" dirty="0"/>
              <a:t> </a:t>
            </a:r>
            <a:r>
              <a:rPr lang="fr-BE" dirty="0" err="1"/>
              <a:t>zullen</a:t>
            </a:r>
            <a:r>
              <a:rPr lang="fr-BE" dirty="0"/>
              <a:t> niet langer </a:t>
            </a:r>
            <a:r>
              <a:rPr lang="fr-BE" dirty="0" err="1"/>
              <a:t>aan</a:t>
            </a:r>
            <a:r>
              <a:rPr lang="fr-BE" dirty="0"/>
              <a:t> de </a:t>
            </a:r>
            <a:r>
              <a:rPr lang="fr-BE" dirty="0" err="1"/>
              <a:t>nieuwe</a:t>
            </a:r>
            <a:r>
              <a:rPr lang="fr-BE" dirty="0"/>
              <a:t> </a:t>
            </a:r>
            <a:r>
              <a:rPr lang="fr-BE" dirty="0" err="1"/>
              <a:t>vereisten</a:t>
            </a:r>
            <a:r>
              <a:rPr lang="fr-BE" dirty="0"/>
              <a:t> </a:t>
            </a:r>
            <a:r>
              <a:rPr lang="fr-BE" dirty="0" err="1"/>
              <a:t>voldoen</a:t>
            </a:r>
            <a:r>
              <a:rPr lang="fr-BE" dirty="0"/>
              <a:t>. </a:t>
            </a:r>
          </a:p>
          <a:p>
            <a:pPr lvl="2"/>
            <a:r>
              <a:rPr lang="nl-NL" dirty="0"/>
              <a:t>De onder de vorige richtlijn erkende </a:t>
            </a:r>
            <a:r>
              <a:rPr lang="nl-NL" dirty="0" err="1"/>
              <a:t>SSCD’s</a:t>
            </a:r>
            <a:r>
              <a:rPr lang="nl-NL" dirty="0"/>
              <a:t> zullen vanaf 21/5/26 niet langer onder eIDAS worden erkend</a:t>
            </a:r>
          </a:p>
          <a:p>
            <a:pPr lvl="2"/>
            <a:r>
              <a:rPr lang="nl-NL" dirty="0"/>
              <a:t>De certificering van de bestaande chips zal worden beperkt tot 5 jaar</a:t>
            </a:r>
            <a:endParaRPr lang="fr-BE" dirty="0"/>
          </a:p>
          <a:p>
            <a:pPr lvl="2"/>
            <a:endParaRPr lang="fr-BE" dirty="0"/>
          </a:p>
        </p:txBody>
      </p:sp>
    </p:spTree>
    <p:extLst>
      <p:ext uri="{BB962C8B-B14F-4D97-AF65-F5344CB8AC3E}">
        <p14:creationId xmlns:p14="http://schemas.microsoft.com/office/powerpoint/2010/main" val="324349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2001642" y="305702"/>
            <a:ext cx="8705850" cy="830997"/>
          </a:xfrm>
          <a:prstGeom prst="rect">
            <a:avLst/>
          </a:prstGeom>
          <a:noFill/>
        </p:spPr>
        <p:txBody>
          <a:bodyPr wrap="square" rtlCol="0">
            <a:spAutoFit/>
          </a:bodyPr>
          <a:lstStyle/>
          <a:p>
            <a:r>
              <a:rPr lang="fr-BE" sz="4800" b="1" dirty="0" err="1"/>
              <a:t>Waarom</a:t>
            </a:r>
            <a:r>
              <a:rPr lang="fr-BE" sz="4800" b="1" dirty="0"/>
              <a:t> nu </a:t>
            </a:r>
            <a:r>
              <a:rPr lang="fr-BE" sz="4800" b="1" dirty="0" err="1"/>
              <a:t>handelen</a:t>
            </a:r>
            <a:r>
              <a:rPr lang="fr-BE" sz="4800" b="1" dirty="0"/>
              <a:t>?</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5C1D5A2B-4C88-44B7-29BE-A07D260E7D5F}"/>
              </a:ext>
            </a:extLst>
          </p:cNvPr>
          <p:cNvSpPr>
            <a:spLocks noGrp="1"/>
          </p:cNvSpPr>
          <p:nvPr>
            <p:ph idx="1"/>
          </p:nvPr>
        </p:nvSpPr>
        <p:spPr/>
        <p:txBody>
          <a:bodyPr>
            <a:normAutofit lnSpcReduction="10000"/>
          </a:bodyPr>
          <a:lstStyle/>
          <a:p>
            <a:pPr marL="0" indent="0">
              <a:buNone/>
            </a:pPr>
            <a:r>
              <a:rPr lang="fr-BE" b="1" dirty="0"/>
              <a:t>Impact </a:t>
            </a:r>
            <a:r>
              <a:rPr lang="fr-BE" b="1" dirty="0" err="1"/>
              <a:t>voor</a:t>
            </a:r>
            <a:r>
              <a:rPr lang="fr-BE" b="1" dirty="0"/>
              <a:t> de burgers</a:t>
            </a:r>
          </a:p>
          <a:p>
            <a:pPr marL="457200" lvl="1" indent="0">
              <a:buNone/>
            </a:pPr>
            <a:endParaRPr lang="fr-BE" sz="1800" dirty="0"/>
          </a:p>
          <a:p>
            <a:pPr lvl="1"/>
            <a:r>
              <a:rPr lang="nl-NL" dirty="0"/>
              <a:t>Vanaf mei 2026 → </a:t>
            </a:r>
            <a:r>
              <a:rPr lang="nl-NL" b="1" dirty="0"/>
              <a:t>1,2 miljoen burgers</a:t>
            </a:r>
            <a:r>
              <a:rPr lang="nl-NL" dirty="0"/>
              <a:t> zullen niet langer gekwalificeerd kunnen ondertekenen (pre-eIDAS-certificaten)</a:t>
            </a:r>
          </a:p>
          <a:p>
            <a:pPr lvl="1"/>
            <a:r>
              <a:rPr lang="nl-NL" dirty="0"/>
              <a:t>Vanaf mei 2027 → ongeveer </a:t>
            </a:r>
            <a:r>
              <a:rPr lang="nl-NL" b="1" dirty="0"/>
              <a:t>5 miljoen extra kaarten</a:t>
            </a:r>
            <a:r>
              <a:rPr lang="nl-NL" dirty="0"/>
              <a:t>  kunnen geen geldige  gekwalificeerde handtekening meer plaatsen → einde van de certificaten gekoppeld aan de kaarten met de oude chip (SSCD v1.7)</a:t>
            </a:r>
          </a:p>
          <a:p>
            <a:pPr marL="457200" lvl="1" indent="0">
              <a:buNone/>
            </a:pPr>
            <a:endParaRPr lang="fr-BE" b="1" dirty="0"/>
          </a:p>
          <a:p>
            <a:pPr marL="457200" lvl="1" indent="0">
              <a:buNone/>
            </a:pPr>
            <a:r>
              <a:rPr lang="nl-NL" b="1" dirty="0"/>
              <a:t>OPLOSSING</a:t>
            </a:r>
            <a:r>
              <a:rPr lang="nl-NL" dirty="0"/>
              <a:t> : handtekeningcertificaten op afstand</a:t>
            </a:r>
          </a:p>
          <a:p>
            <a:pPr lvl="2"/>
            <a:r>
              <a:rPr lang="nl-NL" dirty="0">
                <a:sym typeface="Wingdings" panose="05000000000000000000" pitchFamily="2" charset="2"/>
              </a:rPr>
              <a:t>Mogelijkheid om kwalificatiecertificaten op aanvraag te genereren, zonder afhankelijk te zijn van de </a:t>
            </a:r>
            <a:r>
              <a:rPr lang="nl-NL" dirty="0" err="1">
                <a:sym typeface="Wingdings" panose="05000000000000000000" pitchFamily="2" charset="2"/>
              </a:rPr>
              <a:t>eID</a:t>
            </a:r>
            <a:r>
              <a:rPr lang="nl-NL" dirty="0">
                <a:sym typeface="Wingdings" panose="05000000000000000000" pitchFamily="2" charset="2"/>
              </a:rPr>
              <a:t> chip</a:t>
            </a:r>
          </a:p>
          <a:p>
            <a:pPr lvl="2"/>
            <a:r>
              <a:rPr lang="nl-NL" dirty="0"/>
              <a:t>Eenvoudiger aan te passen aan toekomstige Europese vereisten  (</a:t>
            </a:r>
            <a:r>
              <a:rPr lang="fr-BE" dirty="0" err="1"/>
              <a:t>sneller</a:t>
            </a:r>
            <a:r>
              <a:rPr lang="fr-BE" dirty="0"/>
              <a:t>, </a:t>
            </a:r>
            <a:r>
              <a:rPr lang="fr-BE" dirty="0" err="1"/>
              <a:t>flexibeler</a:t>
            </a:r>
            <a:r>
              <a:rPr lang="fr-BE" dirty="0"/>
              <a:t> en </a:t>
            </a:r>
            <a:r>
              <a:rPr lang="fr-BE" dirty="0" err="1"/>
              <a:t>veiliger</a:t>
            </a:r>
            <a:r>
              <a:rPr lang="fr-BE" dirty="0"/>
              <a:t> </a:t>
            </a:r>
            <a:r>
              <a:rPr lang="fr-BE" dirty="0" err="1"/>
              <a:t>aanpasbaar</a:t>
            </a:r>
            <a:r>
              <a:rPr lang="fr-BE" dirty="0"/>
              <a:t>)</a:t>
            </a:r>
            <a:endParaRPr lang="nl-NL" dirty="0">
              <a:solidFill>
                <a:srgbClr val="FF0000"/>
              </a:solidFill>
              <a:sym typeface="Wingdings" panose="05000000000000000000" pitchFamily="2" charset="2"/>
            </a:endParaRPr>
          </a:p>
          <a:p>
            <a:pPr lvl="2"/>
            <a:endParaRPr lang="fr-BE" dirty="0">
              <a:solidFill>
                <a:srgbClr val="FF0000"/>
              </a:solidFill>
              <a:sym typeface="Wingdings" panose="05000000000000000000" pitchFamily="2" charset="2"/>
            </a:endParaRPr>
          </a:p>
        </p:txBody>
      </p:sp>
    </p:spTree>
    <p:extLst>
      <p:ext uri="{BB962C8B-B14F-4D97-AF65-F5344CB8AC3E}">
        <p14:creationId xmlns:p14="http://schemas.microsoft.com/office/powerpoint/2010/main" val="422671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733928" y="270763"/>
            <a:ext cx="8705850" cy="830997"/>
          </a:xfrm>
          <a:prstGeom prst="rect">
            <a:avLst/>
          </a:prstGeom>
          <a:noFill/>
        </p:spPr>
        <p:txBody>
          <a:bodyPr wrap="square" rtlCol="0">
            <a:spAutoFit/>
          </a:bodyPr>
          <a:lstStyle/>
          <a:p>
            <a:r>
              <a:rPr lang="nl-BE" sz="4800" b="1" dirty="0">
                <a:ea typeface="Cascadia Code SemiBold" panose="020B0609020000020004" pitchFamily="49" charset="0"/>
                <a:cs typeface="Dubai Medium" panose="020B0603030403030204" pitchFamily="34" charset="-78"/>
              </a:rPr>
              <a:t>Oplossing : de </a:t>
            </a:r>
            <a:r>
              <a:rPr lang="nl-BE" sz="4800" b="1" dirty="0" err="1">
                <a:ea typeface="Cascadia Code SemiBold" panose="020B0609020000020004" pitchFamily="49" charset="0"/>
                <a:cs typeface="Dubai Medium" panose="020B0603030403030204" pitchFamily="34" charset="-78"/>
              </a:rPr>
              <a:t>rQSCD</a:t>
            </a:r>
            <a:r>
              <a:rPr lang="nl-BE" sz="4800" b="1" dirty="0">
                <a:ea typeface="Cascadia Code SemiBold" panose="020B0609020000020004" pitchFamily="49" charset="0"/>
                <a:cs typeface="Dubai Medium" panose="020B0603030403030204" pitchFamily="34" charset="-78"/>
              </a:rPr>
              <a:t>-dienst</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1036B66B-9371-98D7-4E4A-77D09517CFE3}"/>
              </a:ext>
            </a:extLst>
          </p:cNvPr>
          <p:cNvSpPr>
            <a:spLocks noGrp="1"/>
          </p:cNvSpPr>
          <p:nvPr>
            <p:ph idx="1"/>
          </p:nvPr>
        </p:nvSpPr>
        <p:spPr>
          <a:xfrm>
            <a:off x="838200" y="1498962"/>
            <a:ext cx="10515600" cy="4869754"/>
          </a:xfrm>
        </p:spPr>
        <p:txBody>
          <a:bodyPr>
            <a:normAutofit/>
          </a:bodyPr>
          <a:lstStyle/>
          <a:p>
            <a:pPr marL="0" indent="0">
              <a:buNone/>
            </a:pPr>
            <a:r>
              <a:rPr lang="nl-NL" sz="3200" b="1" dirty="0"/>
              <a:t>Federale dienst die toelaat te ondertekenen met een gekwalificeerd certificaat dat op afstand wordt uitgegeven</a:t>
            </a:r>
          </a:p>
          <a:p>
            <a:r>
              <a:rPr lang="fr-BE" dirty="0" err="1"/>
              <a:t>Conform</a:t>
            </a:r>
            <a:r>
              <a:rPr lang="fr-BE" dirty="0"/>
              <a:t> eIDAS 2.0</a:t>
            </a:r>
          </a:p>
          <a:p>
            <a:r>
              <a:rPr lang="fr-BE" dirty="0"/>
              <a:t>Gratis </a:t>
            </a:r>
            <a:r>
              <a:rPr lang="fr-BE" dirty="0" err="1"/>
              <a:t>voor</a:t>
            </a:r>
            <a:r>
              <a:rPr lang="fr-BE" dirty="0"/>
              <a:t> de burgers</a:t>
            </a:r>
          </a:p>
          <a:p>
            <a:r>
              <a:rPr lang="fr-BE" dirty="0" err="1"/>
              <a:t>Toegankelijk</a:t>
            </a:r>
            <a:r>
              <a:rPr lang="fr-BE" dirty="0"/>
              <a:t> via :</a:t>
            </a:r>
          </a:p>
          <a:p>
            <a:pPr lvl="1"/>
            <a:r>
              <a:rPr lang="fr-BE" dirty="0"/>
              <a:t>Smartphone (MyGov.be) </a:t>
            </a:r>
            <a:r>
              <a:rPr lang="fr-BE" dirty="0">
                <a:sym typeface="Wingdings" panose="05000000000000000000" pitchFamily="2" charset="2"/>
              </a:rPr>
              <a:t> </a:t>
            </a:r>
            <a:r>
              <a:rPr lang="fr-BE" dirty="0" err="1">
                <a:sym typeface="Wingdings" panose="05000000000000000000" pitchFamily="2" charset="2"/>
              </a:rPr>
              <a:t>vanaf</a:t>
            </a:r>
            <a:r>
              <a:rPr lang="fr-BE" dirty="0">
                <a:sym typeface="Wingdings" panose="05000000000000000000" pitchFamily="2" charset="2"/>
              </a:rPr>
              <a:t> de </a:t>
            </a:r>
            <a:r>
              <a:rPr lang="fr-BE" dirty="0" err="1">
                <a:sym typeface="Wingdings" panose="05000000000000000000" pitchFamily="2" charset="2"/>
              </a:rPr>
              <a:t>tweede</a:t>
            </a:r>
            <a:r>
              <a:rPr lang="fr-BE" dirty="0">
                <a:sym typeface="Wingdings" panose="05000000000000000000" pitchFamily="2" charset="2"/>
              </a:rPr>
              <a:t> </a:t>
            </a:r>
            <a:r>
              <a:rPr lang="fr-BE" dirty="0" err="1">
                <a:sym typeface="Wingdings" panose="05000000000000000000" pitchFamily="2" charset="2"/>
              </a:rPr>
              <a:t>helft</a:t>
            </a:r>
            <a:r>
              <a:rPr lang="fr-BE" dirty="0">
                <a:sym typeface="Wingdings" panose="05000000000000000000" pitchFamily="2" charset="2"/>
              </a:rPr>
              <a:t> van 2026</a:t>
            </a:r>
          </a:p>
          <a:p>
            <a:pPr lvl="1"/>
            <a:r>
              <a:rPr lang="fr-BE" dirty="0" err="1">
                <a:sym typeface="Wingdings" panose="05000000000000000000" pitchFamily="2" charset="2"/>
              </a:rPr>
              <a:t>Webbrowser</a:t>
            </a:r>
            <a:r>
              <a:rPr lang="fr-BE" dirty="0">
                <a:sym typeface="Wingdings" panose="05000000000000000000" pitchFamily="2" charset="2"/>
              </a:rPr>
              <a:t> (</a:t>
            </a:r>
            <a:r>
              <a:rPr lang="fr-BE" dirty="0" err="1">
                <a:sym typeface="Wingdings" panose="05000000000000000000" pitchFamily="2" charset="2"/>
              </a:rPr>
              <a:t>webapp</a:t>
            </a:r>
            <a:r>
              <a:rPr lang="fr-BE" dirty="0">
                <a:sym typeface="Wingdings" panose="05000000000000000000" pitchFamily="2" charset="2"/>
              </a:rPr>
              <a:t> </a:t>
            </a:r>
            <a:r>
              <a:rPr lang="fr-BE" dirty="0" err="1">
                <a:sym typeface="Wingdings" panose="05000000000000000000" pitchFamily="2" charset="2"/>
              </a:rPr>
              <a:t>ontwikkeld</a:t>
            </a:r>
            <a:r>
              <a:rPr lang="fr-BE" dirty="0">
                <a:sym typeface="Wingdings" panose="05000000000000000000" pitchFamily="2" charset="2"/>
              </a:rPr>
              <a:t> </a:t>
            </a:r>
            <a:r>
              <a:rPr lang="fr-BE" dirty="0" err="1">
                <a:sym typeface="Wingdings" panose="05000000000000000000" pitchFamily="2" charset="2"/>
              </a:rPr>
              <a:t>door</a:t>
            </a:r>
            <a:r>
              <a:rPr lang="fr-BE" dirty="0">
                <a:sym typeface="Wingdings" panose="05000000000000000000" pitchFamily="2" charset="2"/>
              </a:rPr>
              <a:t> BOSA) </a:t>
            </a:r>
          </a:p>
          <a:p>
            <a:pPr lvl="1"/>
            <a:r>
              <a:rPr lang="nl-NL" dirty="0"/>
              <a:t>Rechtstreekse integratie met BOSA FTS (zoals met FAS) en SharePoint</a:t>
            </a:r>
            <a:endParaRPr lang="fr-BE" dirty="0">
              <a:sym typeface="Wingdings" panose="05000000000000000000" pitchFamily="2" charset="2"/>
            </a:endParaRPr>
          </a:p>
          <a:p>
            <a:pPr lvl="1"/>
            <a:r>
              <a:rPr lang="fr-BE" dirty="0">
                <a:sym typeface="Wingdings" panose="05000000000000000000" pitchFamily="2" charset="2"/>
              </a:rPr>
              <a:t>PC (</a:t>
            </a:r>
            <a:r>
              <a:rPr lang="fr-BE" dirty="0" err="1">
                <a:sym typeface="Wingdings" panose="05000000000000000000" pitchFamily="2" charset="2"/>
              </a:rPr>
              <a:t>nieuwe</a:t>
            </a:r>
            <a:r>
              <a:rPr lang="fr-BE" dirty="0">
                <a:sym typeface="Wingdings" panose="05000000000000000000" pitchFamily="2" charset="2"/>
              </a:rPr>
              <a:t> </a:t>
            </a:r>
            <a:r>
              <a:rPr lang="fr-BE" dirty="0" err="1">
                <a:sym typeface="Wingdings" panose="05000000000000000000" pitchFamily="2" charset="2"/>
              </a:rPr>
              <a:t>eID</a:t>
            </a:r>
            <a:r>
              <a:rPr lang="fr-BE" dirty="0">
                <a:sym typeface="Wingdings" panose="05000000000000000000" pitchFamily="2" charset="2"/>
              </a:rPr>
              <a:t> software)</a:t>
            </a:r>
            <a:endParaRPr lang="fr-BE" dirty="0"/>
          </a:p>
        </p:txBody>
      </p:sp>
    </p:spTree>
    <p:extLst>
      <p:ext uri="{BB962C8B-B14F-4D97-AF65-F5344CB8AC3E}">
        <p14:creationId xmlns:p14="http://schemas.microsoft.com/office/powerpoint/2010/main" val="3562058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2001642" y="305702"/>
            <a:ext cx="8705850" cy="1077218"/>
          </a:xfrm>
          <a:prstGeom prst="rect">
            <a:avLst/>
          </a:prstGeom>
          <a:noFill/>
        </p:spPr>
        <p:txBody>
          <a:bodyPr wrap="square" rtlCol="0">
            <a:spAutoFit/>
          </a:bodyPr>
          <a:lstStyle/>
          <a:p>
            <a:r>
              <a:rPr lang="nl-NL" sz="3200" b="1" dirty="0"/>
              <a:t>Hoe werkt de gekwalificeerde handtekening op afstand?</a:t>
            </a:r>
            <a:endParaRPr lang="fr-BE" sz="32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1036B66B-9371-98D7-4E4A-77D09517CFE3}"/>
              </a:ext>
            </a:extLst>
          </p:cNvPr>
          <p:cNvSpPr>
            <a:spLocks noGrp="1"/>
          </p:cNvSpPr>
          <p:nvPr>
            <p:ph idx="1"/>
          </p:nvPr>
        </p:nvSpPr>
        <p:spPr>
          <a:xfrm>
            <a:off x="838200" y="1498962"/>
            <a:ext cx="10515600" cy="4869754"/>
          </a:xfrm>
        </p:spPr>
        <p:txBody>
          <a:bodyPr>
            <a:normAutofit fontScale="92500" lnSpcReduction="10000"/>
          </a:bodyPr>
          <a:lstStyle/>
          <a:p>
            <a:pPr marL="0" indent="0">
              <a:buNone/>
            </a:pPr>
            <a:endParaRPr lang="fr-BE" sz="3100" b="1" dirty="0"/>
          </a:p>
          <a:p>
            <a:pPr>
              <a:lnSpc>
                <a:spcPct val="100000"/>
              </a:lnSpc>
            </a:pPr>
            <a:r>
              <a:rPr lang="fr-BE" dirty="0" err="1"/>
              <a:t>Aanmaak</a:t>
            </a:r>
            <a:r>
              <a:rPr lang="fr-BE" dirty="0"/>
              <a:t> van </a:t>
            </a:r>
            <a:r>
              <a:rPr lang="fr-BE" dirty="0" err="1"/>
              <a:t>een</a:t>
            </a:r>
            <a:r>
              <a:rPr lang="fr-BE" dirty="0"/>
              <a:t> </a:t>
            </a:r>
            <a:r>
              <a:rPr lang="fr-BE" dirty="0" err="1"/>
              <a:t>handtekeningaccount</a:t>
            </a:r>
            <a:endParaRPr lang="fr-BE" dirty="0"/>
          </a:p>
          <a:p>
            <a:pPr>
              <a:lnSpc>
                <a:spcPct val="100000"/>
              </a:lnSpc>
            </a:pPr>
            <a:r>
              <a:rPr lang="nl-NL" dirty="0"/>
              <a:t>Sterke authenticatie (</a:t>
            </a:r>
            <a:r>
              <a:rPr lang="nl-NL" dirty="0" err="1"/>
              <a:t>eID</a:t>
            </a:r>
            <a:r>
              <a:rPr lang="nl-NL" dirty="0"/>
              <a:t>, MyGov.be vanaf midden 2026)</a:t>
            </a:r>
          </a:p>
          <a:p>
            <a:pPr>
              <a:lnSpc>
                <a:spcPct val="100000"/>
              </a:lnSpc>
            </a:pPr>
            <a:r>
              <a:rPr lang="nl-NL" dirty="0"/>
              <a:t>Generatie van een gekwalificeerd certificaat met beperkte geldigheidsduur (24u) — de handtekening blijft uiteraard blijvend geldig</a:t>
            </a:r>
          </a:p>
          <a:p>
            <a:pPr>
              <a:lnSpc>
                <a:spcPct val="100000"/>
              </a:lnSpc>
            </a:pPr>
            <a:r>
              <a:rPr lang="nl-NL" dirty="0"/>
              <a:t>Onmiddellijke verificatie bij het Rijksregister tijdens de generatie om de juridische </a:t>
            </a:r>
            <a:r>
              <a:rPr lang="nl-NL" dirty="0" err="1"/>
              <a:t>ondertekeningsbekwaamheid</a:t>
            </a:r>
            <a:r>
              <a:rPr lang="nl-NL" dirty="0"/>
              <a:t> van de persoon te bepalen (ontvoogde minderjarige, persoon onder gerechtelijke bescherming, niet-geschrapt uit de registers, enz.)</a:t>
            </a:r>
          </a:p>
          <a:p>
            <a:pPr>
              <a:lnSpc>
                <a:spcPct val="100000"/>
              </a:lnSpc>
            </a:pPr>
            <a:r>
              <a:rPr lang="nl-NL" dirty="0"/>
              <a:t>Ondertekening in een sterk beveiligde, eIDAS-geauditeerde omgeving</a:t>
            </a:r>
          </a:p>
          <a:p>
            <a:pPr>
              <a:lnSpc>
                <a:spcPct val="100000"/>
              </a:lnSpc>
            </a:pPr>
            <a:r>
              <a:rPr lang="fr-BE" dirty="0" err="1"/>
              <a:t>Transparant</a:t>
            </a:r>
            <a:r>
              <a:rPr lang="fr-BE" dirty="0"/>
              <a:t> </a:t>
            </a:r>
            <a:r>
              <a:rPr lang="fr-BE" dirty="0" err="1"/>
              <a:t>voor</a:t>
            </a:r>
            <a:r>
              <a:rPr lang="fr-BE" dirty="0"/>
              <a:t> de </a:t>
            </a:r>
            <a:r>
              <a:rPr lang="fr-BE" dirty="0" err="1"/>
              <a:t>eindgebruiker</a:t>
            </a:r>
            <a:endParaRPr lang="fr-BE" dirty="0"/>
          </a:p>
        </p:txBody>
      </p:sp>
    </p:spTree>
    <p:extLst>
      <p:ext uri="{BB962C8B-B14F-4D97-AF65-F5344CB8AC3E}">
        <p14:creationId xmlns:p14="http://schemas.microsoft.com/office/powerpoint/2010/main" val="155127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2001642" y="305702"/>
            <a:ext cx="8705850" cy="584775"/>
          </a:xfrm>
          <a:prstGeom prst="rect">
            <a:avLst/>
          </a:prstGeom>
          <a:noFill/>
        </p:spPr>
        <p:txBody>
          <a:bodyPr wrap="square" rtlCol="0">
            <a:spAutoFit/>
          </a:bodyPr>
          <a:lstStyle/>
          <a:p>
            <a:r>
              <a:rPr lang="fr-BE" sz="3200" b="1" dirty="0" err="1">
                <a:ea typeface="Cascadia Code SemiBold" panose="020B0609020000020004" pitchFamily="49" charset="0"/>
                <a:cs typeface="Dubai Medium" panose="020B0603030403030204" pitchFamily="34" charset="-78"/>
              </a:rPr>
              <a:t>Architectuur</a:t>
            </a:r>
            <a:endParaRPr lang="fr-BE" sz="32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pic>
        <p:nvPicPr>
          <p:cNvPr id="4" name="Image 3">
            <a:extLst>
              <a:ext uri="{FF2B5EF4-FFF2-40B4-BE49-F238E27FC236}">
                <a16:creationId xmlns:a16="http://schemas.microsoft.com/office/drawing/2014/main" id="{E7709ED8-6D1E-4749-1D0F-C7CF49698B36}"/>
              </a:ext>
            </a:extLst>
          </p:cNvPr>
          <p:cNvPicPr>
            <a:picLocks noChangeAspect="1"/>
          </p:cNvPicPr>
          <p:nvPr/>
        </p:nvPicPr>
        <p:blipFill>
          <a:blip r:embed="rId5"/>
          <a:stretch>
            <a:fillRect/>
          </a:stretch>
        </p:blipFill>
        <p:spPr>
          <a:xfrm>
            <a:off x="3501931" y="1535690"/>
            <a:ext cx="4690346" cy="5345040"/>
          </a:xfrm>
          <a:prstGeom prst="rect">
            <a:avLst/>
          </a:prstGeom>
        </p:spPr>
      </p:pic>
    </p:spTree>
    <p:extLst>
      <p:ext uri="{BB962C8B-B14F-4D97-AF65-F5344CB8AC3E}">
        <p14:creationId xmlns:p14="http://schemas.microsoft.com/office/powerpoint/2010/main" val="176355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pic>
        <p:nvPicPr>
          <p:cNvPr id="4" name="Image 3">
            <a:extLst>
              <a:ext uri="{FF2B5EF4-FFF2-40B4-BE49-F238E27FC236}">
                <a16:creationId xmlns:a16="http://schemas.microsoft.com/office/drawing/2014/main" id="{F750F4AA-86D9-959D-1140-4C016FAE3C0E}"/>
              </a:ext>
            </a:extLst>
          </p:cNvPr>
          <p:cNvPicPr>
            <a:picLocks noChangeAspect="1"/>
          </p:cNvPicPr>
          <p:nvPr/>
        </p:nvPicPr>
        <p:blipFill>
          <a:blip r:embed="rId5"/>
          <a:stretch>
            <a:fillRect/>
          </a:stretch>
        </p:blipFill>
        <p:spPr>
          <a:xfrm>
            <a:off x="1767484" y="1497123"/>
            <a:ext cx="8199831" cy="4778154"/>
          </a:xfrm>
          <a:prstGeom prst="rect">
            <a:avLst/>
          </a:prstGeom>
        </p:spPr>
      </p:pic>
    </p:spTree>
    <p:extLst>
      <p:ext uri="{BB962C8B-B14F-4D97-AF65-F5344CB8AC3E}">
        <p14:creationId xmlns:p14="http://schemas.microsoft.com/office/powerpoint/2010/main" val="150060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pic>
        <p:nvPicPr>
          <p:cNvPr id="3" name="Image 2">
            <a:extLst>
              <a:ext uri="{FF2B5EF4-FFF2-40B4-BE49-F238E27FC236}">
                <a16:creationId xmlns:a16="http://schemas.microsoft.com/office/drawing/2014/main" id="{99CC16EF-FFA5-074E-E093-48D380CA02DB}"/>
              </a:ext>
            </a:extLst>
          </p:cNvPr>
          <p:cNvPicPr>
            <a:picLocks noChangeAspect="1"/>
          </p:cNvPicPr>
          <p:nvPr/>
        </p:nvPicPr>
        <p:blipFill>
          <a:blip r:embed="rId5"/>
          <a:stretch>
            <a:fillRect/>
          </a:stretch>
        </p:blipFill>
        <p:spPr>
          <a:xfrm>
            <a:off x="1992274" y="1545021"/>
            <a:ext cx="8207451" cy="4747671"/>
          </a:xfrm>
          <a:prstGeom prst="rect">
            <a:avLst/>
          </a:prstGeom>
        </p:spPr>
      </p:pic>
    </p:spTree>
    <p:extLst>
      <p:ext uri="{BB962C8B-B14F-4D97-AF65-F5344CB8AC3E}">
        <p14:creationId xmlns:p14="http://schemas.microsoft.com/office/powerpoint/2010/main" val="416536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2001642" y="305702"/>
            <a:ext cx="8705850" cy="830997"/>
          </a:xfrm>
          <a:prstGeom prst="rect">
            <a:avLst/>
          </a:prstGeom>
          <a:noFill/>
        </p:spPr>
        <p:txBody>
          <a:bodyPr wrap="square" rtlCol="0">
            <a:spAutoFit/>
          </a:bodyPr>
          <a:lstStyle/>
          <a:p>
            <a:r>
              <a:rPr lang="nl-BE" sz="4800" b="1" dirty="0">
                <a:ea typeface="Cascadia Code SemiBold" panose="020B0609020000020004" pitchFamily="49" charset="0"/>
                <a:cs typeface="Dubai Medium" panose="020B0603030403030204" pitchFamily="34" charset="-78"/>
              </a:rPr>
              <a:t>Impact voor de burgers</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1036B66B-9371-98D7-4E4A-77D09517CFE3}"/>
              </a:ext>
            </a:extLst>
          </p:cNvPr>
          <p:cNvSpPr>
            <a:spLocks noGrp="1"/>
          </p:cNvSpPr>
          <p:nvPr>
            <p:ph idx="1"/>
          </p:nvPr>
        </p:nvSpPr>
        <p:spPr>
          <a:xfrm>
            <a:off x="731520" y="2276202"/>
            <a:ext cx="10515600" cy="4869754"/>
          </a:xfrm>
        </p:spPr>
        <p:txBody>
          <a:bodyPr>
            <a:normAutofit/>
          </a:bodyPr>
          <a:lstStyle/>
          <a:p>
            <a:r>
              <a:rPr lang="nl-NL" dirty="0"/>
              <a:t>Continuïteit van de toegang tot een gekwalificeerde elektronische handtekening, ook voor burgers met een oudere </a:t>
            </a:r>
            <a:r>
              <a:rPr lang="nl-NL" dirty="0" err="1"/>
              <a:t>eID</a:t>
            </a:r>
            <a:r>
              <a:rPr lang="nl-NL" dirty="0"/>
              <a:t> (de authenticatiecertificaten blijven geldig)</a:t>
            </a:r>
          </a:p>
          <a:p>
            <a:r>
              <a:rPr lang="nl-NL" dirty="0"/>
              <a:t>Vanaf 2026 ook mogelijk om zonder kaartlezer te authentiseren en ondertekenen, via MyGov.be</a:t>
            </a:r>
          </a:p>
          <a:p>
            <a:r>
              <a:rPr lang="fr-BE" dirty="0" err="1"/>
              <a:t>Eenvoudige</a:t>
            </a:r>
            <a:r>
              <a:rPr lang="fr-BE" dirty="0"/>
              <a:t>, moderne en </a:t>
            </a:r>
            <a:r>
              <a:rPr lang="fr-BE" dirty="0" err="1"/>
              <a:t>mobiele</a:t>
            </a:r>
            <a:r>
              <a:rPr lang="fr-BE" dirty="0"/>
              <a:t> </a:t>
            </a:r>
            <a:r>
              <a:rPr lang="fr-BE" dirty="0" err="1"/>
              <a:t>federale</a:t>
            </a:r>
            <a:r>
              <a:rPr lang="fr-BE" dirty="0"/>
              <a:t> dienst</a:t>
            </a:r>
          </a:p>
          <a:p>
            <a:r>
              <a:rPr lang="nl-NL" dirty="0"/>
              <a:t>Europese conformiteit, erkenning in de hele EU</a:t>
            </a:r>
          </a:p>
          <a:p>
            <a:r>
              <a:rPr lang="nl-NL" dirty="0"/>
              <a:t>Gratis, in overeenstemming met de eIDAS 2.0-verordening</a:t>
            </a:r>
          </a:p>
          <a:p>
            <a:endParaRPr lang="nl-NL" dirty="0">
              <a:solidFill>
                <a:srgbClr val="FF0000"/>
              </a:solidFill>
            </a:endParaRPr>
          </a:p>
          <a:p>
            <a:pPr marL="0" indent="0">
              <a:buNone/>
            </a:pPr>
            <a:endParaRPr lang="fr-BE" dirty="0"/>
          </a:p>
        </p:txBody>
      </p:sp>
    </p:spTree>
    <p:extLst>
      <p:ext uri="{BB962C8B-B14F-4D97-AF65-F5344CB8AC3E}">
        <p14:creationId xmlns:p14="http://schemas.microsoft.com/office/powerpoint/2010/main" val="344013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409700" y="0"/>
            <a:ext cx="8705850" cy="1446550"/>
          </a:xfrm>
          <a:prstGeom prst="rect">
            <a:avLst/>
          </a:prstGeom>
          <a:noFill/>
        </p:spPr>
        <p:txBody>
          <a:bodyPr wrap="square" rtlCol="0">
            <a:spAutoFit/>
          </a:bodyPr>
          <a:lstStyle/>
          <a:p>
            <a:r>
              <a:rPr lang="nl-NL" sz="4400" b="1" dirty="0"/>
              <a:t>Wettelijk kader: ontwerp van wet </a:t>
            </a:r>
            <a:r>
              <a:rPr lang="nl-NL" sz="4400" b="1" dirty="0" err="1"/>
              <a:t>rQSCD</a:t>
            </a:r>
            <a:endParaRPr lang="fr-BE" sz="44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3" name="Espace réservé du contenu 2">
            <a:extLst>
              <a:ext uri="{FF2B5EF4-FFF2-40B4-BE49-F238E27FC236}">
                <a16:creationId xmlns:a16="http://schemas.microsoft.com/office/drawing/2014/main" id="{1036B66B-9371-98D7-4E4A-77D09517CFE3}"/>
              </a:ext>
            </a:extLst>
          </p:cNvPr>
          <p:cNvSpPr>
            <a:spLocks noGrp="1"/>
          </p:cNvSpPr>
          <p:nvPr>
            <p:ph idx="1"/>
          </p:nvPr>
        </p:nvSpPr>
        <p:spPr>
          <a:xfrm>
            <a:off x="838200" y="1498962"/>
            <a:ext cx="10515600" cy="4869754"/>
          </a:xfrm>
        </p:spPr>
        <p:txBody>
          <a:bodyPr>
            <a:normAutofit lnSpcReduction="10000"/>
          </a:bodyPr>
          <a:lstStyle/>
          <a:p>
            <a:pPr marL="0" indent="0">
              <a:buNone/>
            </a:pPr>
            <a:r>
              <a:rPr lang="fr-BE" sz="3100" dirty="0"/>
              <a:t>De </a:t>
            </a:r>
            <a:r>
              <a:rPr lang="fr-BE" sz="3100" dirty="0" err="1"/>
              <a:t>wet</a:t>
            </a:r>
            <a:r>
              <a:rPr lang="fr-BE" sz="3100" dirty="0"/>
              <a:t> </a:t>
            </a:r>
            <a:r>
              <a:rPr lang="fr-BE" sz="3100" dirty="0" err="1"/>
              <a:t>heeft</a:t>
            </a:r>
            <a:r>
              <a:rPr lang="fr-BE" sz="3100" dirty="0"/>
              <a:t> </a:t>
            </a:r>
            <a:r>
              <a:rPr lang="fr-BE" sz="3100" dirty="0" err="1"/>
              <a:t>tot</a:t>
            </a:r>
            <a:r>
              <a:rPr lang="fr-BE" sz="3100" dirty="0"/>
              <a:t> </a:t>
            </a:r>
            <a:r>
              <a:rPr lang="fr-BE" sz="3100" dirty="0" err="1"/>
              <a:t>doel</a:t>
            </a:r>
            <a:r>
              <a:rPr lang="fr-BE" sz="3100" dirty="0"/>
              <a:t>:</a:t>
            </a:r>
          </a:p>
          <a:p>
            <a:pPr marL="0" indent="0">
              <a:buNone/>
            </a:pPr>
            <a:endParaRPr lang="fr-BE" sz="3100" dirty="0"/>
          </a:p>
          <a:p>
            <a:r>
              <a:rPr lang="nl-NL" sz="3100" dirty="0"/>
              <a:t>De dienst voor gekwalificeerde handtekeningen op afstand op te richten</a:t>
            </a:r>
          </a:p>
          <a:p>
            <a:r>
              <a:rPr lang="nl-NL" sz="3100" dirty="0"/>
              <a:t>De verwerkingsverantwoordelijken en de categorieën van persoonsgegevens te bepalen die in het kader van de </a:t>
            </a:r>
            <a:r>
              <a:rPr lang="nl-NL" sz="3100" dirty="0" err="1"/>
              <a:t>rQSCD</a:t>
            </a:r>
            <a:r>
              <a:rPr lang="nl-NL" sz="3100" dirty="0"/>
              <a:t>-oplossing mogen worden verwerkt</a:t>
            </a:r>
          </a:p>
          <a:p>
            <a:pPr>
              <a:lnSpc>
                <a:spcPct val="100000"/>
              </a:lnSpc>
            </a:pPr>
            <a:r>
              <a:rPr lang="nl-NL" sz="3100" dirty="0"/>
              <a:t>Het gebruik van het rijksregisternummer toe te staan om de identificatie van de ondertekenaar te waarborgen</a:t>
            </a:r>
          </a:p>
          <a:p>
            <a:pPr>
              <a:lnSpc>
                <a:spcPct val="110000"/>
              </a:lnSpc>
            </a:pPr>
            <a:r>
              <a:rPr lang="nl-NL" sz="3100" dirty="0"/>
              <a:t>De conformiteit met eIDAS en de AVG te garanderen</a:t>
            </a:r>
            <a:endParaRPr lang="fr-BE" sz="3100" dirty="0"/>
          </a:p>
        </p:txBody>
      </p:sp>
    </p:spTree>
    <p:extLst>
      <p:ext uri="{BB962C8B-B14F-4D97-AF65-F5344CB8AC3E}">
        <p14:creationId xmlns:p14="http://schemas.microsoft.com/office/powerpoint/2010/main" val="2345338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885950" y="-60117"/>
            <a:ext cx="8705850" cy="1446550"/>
          </a:xfrm>
          <a:prstGeom prst="rect">
            <a:avLst/>
          </a:prstGeom>
          <a:noFill/>
        </p:spPr>
        <p:txBody>
          <a:bodyPr wrap="square" rtlCol="0">
            <a:spAutoFit/>
          </a:bodyPr>
          <a:lstStyle/>
          <a:p>
            <a:r>
              <a:rPr lang="nl-NL" sz="4400" b="1" dirty="0"/>
              <a:t>Risico’s als de wet niet tijdig wordt aangenomen</a:t>
            </a:r>
            <a:endParaRPr lang="fr-BE" sz="44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5" name="Espace réservé du contenu 4">
            <a:extLst>
              <a:ext uri="{FF2B5EF4-FFF2-40B4-BE49-F238E27FC236}">
                <a16:creationId xmlns:a16="http://schemas.microsoft.com/office/drawing/2014/main" id="{10396A56-B170-C05F-263C-D11D777468CC}"/>
              </a:ext>
            </a:extLst>
          </p:cNvPr>
          <p:cNvSpPr>
            <a:spLocks noGrp="1"/>
          </p:cNvSpPr>
          <p:nvPr>
            <p:ph idx="1"/>
          </p:nvPr>
        </p:nvSpPr>
        <p:spPr/>
        <p:txBody>
          <a:bodyPr>
            <a:normAutofit/>
          </a:bodyPr>
          <a:lstStyle/>
          <a:p>
            <a:r>
              <a:rPr lang="nl-NL" dirty="0"/>
              <a:t>Onderbreking van de dienstverlening voor een groot aantal burgers</a:t>
            </a:r>
          </a:p>
          <a:p>
            <a:r>
              <a:rPr lang="fr-BE" dirty="0" err="1"/>
              <a:t>Risico</a:t>
            </a:r>
            <a:r>
              <a:rPr lang="fr-BE" dirty="0"/>
              <a:t> op niet-</a:t>
            </a:r>
            <a:r>
              <a:rPr lang="fr-BE" dirty="0" err="1"/>
              <a:t>naleving</a:t>
            </a:r>
            <a:r>
              <a:rPr lang="fr-BE" dirty="0"/>
              <a:t> van de </a:t>
            </a:r>
            <a:r>
              <a:rPr lang="fr-BE" dirty="0" err="1"/>
              <a:t>Europese</a:t>
            </a:r>
            <a:r>
              <a:rPr lang="fr-BE" dirty="0"/>
              <a:t> </a:t>
            </a:r>
            <a:r>
              <a:rPr lang="fr-BE" dirty="0" err="1"/>
              <a:t>verordening</a:t>
            </a:r>
            <a:r>
              <a:rPr lang="fr-BE" dirty="0"/>
              <a:t> (</a:t>
            </a:r>
            <a:r>
              <a:rPr lang="fr-BE" dirty="0" err="1"/>
              <a:t>als</a:t>
            </a:r>
            <a:r>
              <a:rPr lang="fr-BE" dirty="0"/>
              <a:t> de </a:t>
            </a:r>
            <a:r>
              <a:rPr lang="fr-BE" dirty="0" err="1"/>
              <a:t>oude</a:t>
            </a:r>
            <a:r>
              <a:rPr lang="fr-BE" dirty="0"/>
              <a:t> </a:t>
            </a:r>
            <a:r>
              <a:rPr lang="fr-BE" dirty="0" err="1"/>
              <a:t>certificaten</a:t>
            </a:r>
            <a:r>
              <a:rPr lang="fr-BE" dirty="0"/>
              <a:t> niet </a:t>
            </a:r>
            <a:r>
              <a:rPr lang="fr-BE" dirty="0" err="1"/>
              <a:t>tijdig</a:t>
            </a:r>
            <a:r>
              <a:rPr lang="fr-BE" dirty="0"/>
              <a:t> </a:t>
            </a:r>
            <a:r>
              <a:rPr lang="fr-BE" dirty="0" err="1"/>
              <a:t>worden</a:t>
            </a:r>
            <a:r>
              <a:rPr lang="fr-BE" dirty="0"/>
              <a:t> </a:t>
            </a:r>
            <a:r>
              <a:rPr lang="fr-BE" dirty="0" err="1"/>
              <a:t>ingetrokken</a:t>
            </a:r>
            <a:r>
              <a:rPr lang="fr-BE" dirty="0"/>
              <a:t>)</a:t>
            </a:r>
            <a:endParaRPr lang="fr-BE" dirty="0">
              <a:solidFill>
                <a:srgbClr val="FF0000"/>
              </a:solidFill>
            </a:endParaRPr>
          </a:p>
          <a:p>
            <a:r>
              <a:rPr lang="nl-NL" dirty="0"/>
              <a:t>Aanzienlijke toestroom van burgers die een voortijdige vervanging van hun </a:t>
            </a:r>
            <a:r>
              <a:rPr lang="nl-NL" dirty="0" err="1"/>
              <a:t>eID</a:t>
            </a:r>
            <a:r>
              <a:rPr lang="nl-NL" dirty="0"/>
              <a:t> vragen, omdat zij geen alternatief hebben om te ondertekenen</a:t>
            </a:r>
            <a:endParaRPr lang="fr-BE" dirty="0"/>
          </a:p>
        </p:txBody>
      </p:sp>
    </p:spTree>
    <p:extLst>
      <p:ext uri="{BB962C8B-B14F-4D97-AF65-F5344CB8AC3E}">
        <p14:creationId xmlns:p14="http://schemas.microsoft.com/office/powerpoint/2010/main" val="126036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15836"/>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885950" y="355272"/>
            <a:ext cx="8705850" cy="830997"/>
          </a:xfrm>
          <a:prstGeom prst="rect">
            <a:avLst/>
          </a:prstGeom>
          <a:noFill/>
        </p:spPr>
        <p:txBody>
          <a:bodyPr wrap="square" rtlCol="0">
            <a:spAutoFit/>
          </a:bodyPr>
          <a:lstStyle/>
          <a:p>
            <a:r>
              <a:rPr lang="fr-BE" sz="4800" b="1" dirty="0" err="1">
                <a:ea typeface="Cascadia Code SemiBold" panose="020B0609020000020004" pitchFamily="49" charset="0"/>
                <a:cs typeface="Dubai Medium" panose="020B0603030403030204" pitchFamily="34" charset="-78"/>
              </a:rPr>
              <a:t>Conclusie</a:t>
            </a:r>
            <a:endParaRPr lang="fr-BE" sz="4800" b="1" dirty="0">
              <a:ea typeface="Cascadia Code SemiBold" panose="020B0609020000020004" pitchFamily="49" charset="0"/>
              <a:cs typeface="Dubai Medium" panose="020B0603030403030204" pitchFamily="34" charset="-78"/>
            </a:endParaRP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5" name="Espace réservé du contenu 4">
            <a:extLst>
              <a:ext uri="{FF2B5EF4-FFF2-40B4-BE49-F238E27FC236}">
                <a16:creationId xmlns:a16="http://schemas.microsoft.com/office/drawing/2014/main" id="{10396A56-B170-C05F-263C-D11D777468CC}"/>
              </a:ext>
            </a:extLst>
          </p:cNvPr>
          <p:cNvSpPr>
            <a:spLocks noGrp="1"/>
          </p:cNvSpPr>
          <p:nvPr>
            <p:ph idx="1"/>
          </p:nvPr>
        </p:nvSpPr>
        <p:spPr/>
        <p:txBody>
          <a:bodyPr/>
          <a:lstStyle/>
          <a:p>
            <a:r>
              <a:rPr lang="nl-NL" dirty="0"/>
              <a:t>De </a:t>
            </a:r>
            <a:r>
              <a:rPr lang="nl-NL" dirty="0" err="1"/>
              <a:t>rQSCD</a:t>
            </a:r>
            <a:r>
              <a:rPr lang="nl-NL" dirty="0"/>
              <a:t>-oplossing is noodzakelijk om burgers een continue toegang te garanderen tot de gekwalificeerde handtekening, omwille van de nieuwe Europese vereisten</a:t>
            </a:r>
            <a:r>
              <a:rPr lang="fr-BE" dirty="0"/>
              <a:t>.</a:t>
            </a:r>
          </a:p>
          <a:p>
            <a:r>
              <a:rPr lang="nl-NL" dirty="0"/>
              <a:t>eIDAS 2.0 verplicht elke lidstaat om gratis een oplossing voor de gekwalificeerde handtekening aan te bieden</a:t>
            </a:r>
          </a:p>
          <a:p>
            <a:r>
              <a:rPr lang="nl-NL" dirty="0"/>
              <a:t>De Europese deadlines (2026–2027) creëren een zeer krap tijdskader en een reëel risico op onderbreking van de dienstverlening als er geen alternatief tijdig beschikbaar is</a:t>
            </a:r>
            <a:endParaRPr lang="fr-BE" dirty="0"/>
          </a:p>
        </p:txBody>
      </p:sp>
    </p:spTree>
    <p:extLst>
      <p:ext uri="{BB962C8B-B14F-4D97-AF65-F5344CB8AC3E}">
        <p14:creationId xmlns:p14="http://schemas.microsoft.com/office/powerpoint/2010/main" val="308434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7F98CC-C98B-40E8-9DC6-4218B68DC1AF}"/>
              </a:ext>
            </a:extLst>
          </p:cNvPr>
          <p:cNvSpPr/>
          <p:nvPr/>
        </p:nvSpPr>
        <p:spPr>
          <a:xfrm>
            <a:off x="0" y="-56560"/>
            <a:ext cx="12192000" cy="139374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p>
        </p:txBody>
      </p:sp>
      <p:pic>
        <p:nvPicPr>
          <p:cNvPr id="6" name="Picture 2" descr="Language selection | IBZ">
            <a:extLst>
              <a:ext uri="{FF2B5EF4-FFF2-40B4-BE49-F238E27FC236}">
                <a16:creationId xmlns:a16="http://schemas.microsoft.com/office/drawing/2014/main" id="{8BA1FE76-14DD-4875-91E2-7DC6B8E5E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28" y="270763"/>
            <a:ext cx="1085472" cy="777198"/>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E2FA582E-3F25-40EF-A790-CA254EC89D0D}"/>
              </a:ext>
            </a:extLst>
          </p:cNvPr>
          <p:cNvSpPr txBox="1"/>
          <p:nvPr/>
        </p:nvSpPr>
        <p:spPr>
          <a:xfrm>
            <a:off x="1885950" y="-60117"/>
            <a:ext cx="8705850" cy="830997"/>
          </a:xfrm>
          <a:prstGeom prst="rect">
            <a:avLst/>
          </a:prstGeom>
          <a:noFill/>
        </p:spPr>
        <p:txBody>
          <a:bodyPr wrap="square" rtlCol="0">
            <a:spAutoFit/>
          </a:bodyPr>
          <a:lstStyle/>
          <a:p>
            <a:r>
              <a:rPr lang="fr-BE" sz="4800" b="1" dirty="0">
                <a:ea typeface="Cascadia Code SemiBold" panose="020B0609020000020004" pitchFamily="49" charset="0"/>
                <a:cs typeface="Dubai Medium" panose="020B0603030403030204" pitchFamily="34" charset="-78"/>
              </a:rPr>
              <a:t>Next </a:t>
            </a:r>
            <a:r>
              <a:rPr lang="fr-BE" sz="4800" b="1" dirty="0" err="1">
                <a:ea typeface="Cascadia Code SemiBold" panose="020B0609020000020004" pitchFamily="49" charset="0"/>
                <a:cs typeface="Dubai Medium" panose="020B0603030403030204" pitchFamily="34" charset="-78"/>
              </a:rPr>
              <a:t>steps</a:t>
            </a:r>
            <a:r>
              <a:rPr lang="fr-BE" sz="4800" b="1" dirty="0">
                <a:ea typeface="Cascadia Code SemiBold" panose="020B0609020000020004" pitchFamily="49" charset="0"/>
                <a:cs typeface="Dubai Medium" panose="020B0603030403030204" pitchFamily="34" charset="-78"/>
              </a:rPr>
              <a:t> du projet</a:t>
            </a:r>
          </a:p>
        </p:txBody>
      </p:sp>
      <p:pic>
        <p:nvPicPr>
          <p:cNvPr id="8" name="Graphique 7" descr="Brainstorming de groupe avec un remplissage uni">
            <a:extLst>
              <a:ext uri="{FF2B5EF4-FFF2-40B4-BE49-F238E27FC236}">
                <a16:creationId xmlns:a16="http://schemas.microsoft.com/office/drawing/2014/main" id="{C7E67C90-E237-1630-6F21-8AA5680F1A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4700" y="183113"/>
            <a:ext cx="914400" cy="914400"/>
          </a:xfrm>
          <a:prstGeom prst="rect">
            <a:avLst/>
          </a:prstGeom>
        </p:spPr>
      </p:pic>
      <p:sp>
        <p:nvSpPr>
          <p:cNvPr id="5" name="Espace réservé du contenu 4">
            <a:extLst>
              <a:ext uri="{FF2B5EF4-FFF2-40B4-BE49-F238E27FC236}">
                <a16:creationId xmlns:a16="http://schemas.microsoft.com/office/drawing/2014/main" id="{10396A56-B170-C05F-263C-D11D777468CC}"/>
              </a:ext>
            </a:extLst>
          </p:cNvPr>
          <p:cNvSpPr>
            <a:spLocks noGrp="1"/>
          </p:cNvSpPr>
          <p:nvPr>
            <p:ph idx="1"/>
          </p:nvPr>
        </p:nvSpPr>
        <p:spPr/>
        <p:txBody>
          <a:bodyPr>
            <a:normAutofit lnSpcReduction="10000"/>
          </a:bodyPr>
          <a:lstStyle/>
          <a:p>
            <a:r>
              <a:rPr lang="nl-NL" b="1" dirty="0"/>
              <a:t>Implementatie van een oplossing voor gekwalificeerde elektronische zegels (</a:t>
            </a:r>
            <a:r>
              <a:rPr lang="nl-NL" b="1" dirty="0" err="1"/>
              <a:t>QSeal</a:t>
            </a:r>
            <a:r>
              <a:rPr lang="nl-NL" b="1" dirty="0"/>
              <a:t>)</a:t>
            </a:r>
          </a:p>
          <a:p>
            <a:pPr lvl="1"/>
            <a:r>
              <a:rPr lang="nl-NL" dirty="0"/>
              <a:t>Voor organisaties, voorgesteld en beheerd door de FOD BOSA</a:t>
            </a:r>
            <a:r>
              <a:rPr lang="fr-BE" dirty="0"/>
              <a:t>.</a:t>
            </a:r>
          </a:p>
          <a:p>
            <a:pPr lvl="1"/>
            <a:r>
              <a:rPr lang="nl-NL" dirty="0"/>
              <a:t>De oplossing wordt op 8/12 </a:t>
            </a:r>
            <a:r>
              <a:rPr lang="nl-NL" dirty="0" err="1"/>
              <a:t>geaudit</a:t>
            </a:r>
            <a:endParaRPr lang="nl-NL" dirty="0"/>
          </a:p>
          <a:p>
            <a:r>
              <a:rPr lang="nl-NL" b="1" dirty="0"/>
              <a:t>Ontwikkeling van een oplossing voor professionele identiteit voor personeel van de overheidsdiensten</a:t>
            </a:r>
            <a:br>
              <a:rPr lang="fr-BE" dirty="0"/>
            </a:br>
            <a:r>
              <a:rPr lang="nl-NL" dirty="0"/>
              <a:t>Vastgestelde behoefte: personeel in de publieke sector (politie, administraties, magistraten, enz.) de mogelijkheid bieden om met een professionele identiteit te ondertekenen, om zo onnodige blootstelling van hun private identiteit in gevoelige functies te vermijden.</a:t>
            </a:r>
            <a:r>
              <a:rPr lang="fr-BE" dirty="0"/>
              <a:t>.</a:t>
            </a:r>
          </a:p>
        </p:txBody>
      </p:sp>
    </p:spTree>
    <p:extLst>
      <p:ext uri="{BB962C8B-B14F-4D97-AF65-F5344CB8AC3E}">
        <p14:creationId xmlns:p14="http://schemas.microsoft.com/office/powerpoint/2010/main" val="412841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6BBA91E4-BC58-4367-AF3C-1A3791090572}"/>
              </a:ext>
            </a:extLst>
          </p:cNvPr>
          <p:cNvPicPr>
            <a:picLocks noChangeAspect="1"/>
          </p:cNvPicPr>
          <p:nvPr/>
        </p:nvPicPr>
        <p:blipFill rotWithShape="1">
          <a:blip r:embed="rId2">
            <a:extLst>
              <a:ext uri="{28A0092B-C50C-407E-A947-70E740481C1C}">
                <a14:useLocalDpi xmlns:a14="http://schemas.microsoft.com/office/drawing/2010/main" val="0"/>
              </a:ext>
            </a:extLst>
          </a:blip>
          <a:srcRect l="14524" t="9571"/>
          <a:stretch/>
        </p:blipFill>
        <p:spPr>
          <a:xfrm>
            <a:off x="0" y="0"/>
            <a:ext cx="6274155" cy="5046515"/>
          </a:xfrm>
          <a:prstGeom prst="rect">
            <a:avLst/>
          </a:prstGeom>
        </p:spPr>
      </p:pic>
      <p:sp>
        <p:nvSpPr>
          <p:cNvPr id="9" name="Triangle isocèle 8">
            <a:extLst>
              <a:ext uri="{FF2B5EF4-FFF2-40B4-BE49-F238E27FC236}">
                <a16:creationId xmlns:a16="http://schemas.microsoft.com/office/drawing/2014/main" id="{7EB45155-44BD-412D-BB48-D4FCE2030DC8}"/>
              </a:ext>
            </a:extLst>
          </p:cNvPr>
          <p:cNvSpPr/>
          <p:nvPr/>
        </p:nvSpPr>
        <p:spPr>
          <a:xfrm rot="18271695">
            <a:off x="8367640" y="1914088"/>
            <a:ext cx="3215866" cy="2186609"/>
          </a:xfrm>
          <a:prstGeom prst="triangle">
            <a:avLst>
              <a:gd name="adj" fmla="val 74699"/>
            </a:avLst>
          </a:prstGeom>
          <a:solidFill>
            <a:srgbClr val="FFCC00">
              <a:alpha val="30196"/>
            </a:srgbClr>
          </a:solid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pic>
        <p:nvPicPr>
          <p:cNvPr id="14" name="Image 13">
            <a:extLst>
              <a:ext uri="{FF2B5EF4-FFF2-40B4-BE49-F238E27FC236}">
                <a16:creationId xmlns:a16="http://schemas.microsoft.com/office/drawing/2014/main" id="{ED12A0BF-133A-4450-9A67-9693441785F0}"/>
              </a:ext>
            </a:extLst>
          </p:cNvPr>
          <p:cNvPicPr>
            <a:picLocks noChangeAspect="1"/>
          </p:cNvPicPr>
          <p:nvPr/>
        </p:nvPicPr>
        <p:blipFill rotWithShape="1">
          <a:blip r:embed="rId3">
            <a:extLst>
              <a:ext uri="{28A0092B-C50C-407E-A947-70E740481C1C}">
                <a14:useLocalDpi xmlns:a14="http://schemas.microsoft.com/office/drawing/2010/main" val="0"/>
              </a:ext>
            </a:extLst>
          </a:blip>
          <a:srcRect r="4085" b="34500"/>
          <a:stretch/>
        </p:blipFill>
        <p:spPr>
          <a:xfrm>
            <a:off x="4170771" y="2365997"/>
            <a:ext cx="8021229" cy="4492003"/>
          </a:xfrm>
          <a:prstGeom prst="rect">
            <a:avLst/>
          </a:prstGeom>
        </p:spPr>
      </p:pic>
      <p:pic>
        <p:nvPicPr>
          <p:cNvPr id="16" name="Image 15">
            <a:extLst>
              <a:ext uri="{FF2B5EF4-FFF2-40B4-BE49-F238E27FC236}">
                <a16:creationId xmlns:a16="http://schemas.microsoft.com/office/drawing/2014/main" id="{6BFC45EC-9211-4973-82FA-F8CABF0174A5}"/>
              </a:ext>
            </a:extLst>
          </p:cNvPr>
          <p:cNvPicPr>
            <a:picLocks noChangeAspect="1"/>
          </p:cNvPicPr>
          <p:nvPr/>
        </p:nvPicPr>
        <p:blipFill rotWithShape="1">
          <a:blip r:embed="rId4">
            <a:extLst>
              <a:ext uri="{28A0092B-C50C-407E-A947-70E740481C1C}">
                <a14:useLocalDpi xmlns:a14="http://schemas.microsoft.com/office/drawing/2010/main" val="0"/>
              </a:ext>
            </a:extLst>
          </a:blip>
          <a:srcRect b="19779"/>
          <a:stretch/>
        </p:blipFill>
        <p:spPr>
          <a:xfrm>
            <a:off x="1233727" y="5248634"/>
            <a:ext cx="2565887" cy="1609366"/>
          </a:xfrm>
          <a:prstGeom prst="rect">
            <a:avLst/>
          </a:prstGeom>
        </p:spPr>
      </p:pic>
      <p:pic>
        <p:nvPicPr>
          <p:cNvPr id="17" name="Picture 2" descr="Language selection | IBZ">
            <a:extLst>
              <a:ext uri="{FF2B5EF4-FFF2-40B4-BE49-F238E27FC236}">
                <a16:creationId xmlns:a16="http://schemas.microsoft.com/office/drawing/2014/main" id="{410D8C3C-E2A8-47EA-BEA1-55A0574F4E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4706" y="4759736"/>
            <a:ext cx="1697380" cy="1215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638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998</TotalTime>
  <Words>844</Words>
  <Application>Microsoft Office PowerPoint</Application>
  <PresentationFormat>Grand écran</PresentationFormat>
  <Paragraphs>74</Paragraphs>
  <Slides>16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Aptos</vt:lpstr>
      <vt:lpstr>Aptos Display</vt:lpstr>
      <vt:lpstr>Arial</vt:lpstr>
      <vt:lpstr>Cascadia Code SemiBold</vt:lpstr>
      <vt:lpstr>Wingdings</vt:lpstr>
      <vt:lpstr>Thème Office</vt:lpstr>
      <vt:lpstr>Project rQSCD – Dienst voor Gekwalificeerde Elektronische Handtekeningen op Afstand</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Violeta Esteban</dc:creator>
  <cp:lastModifiedBy>Violeta Esteban</cp:lastModifiedBy>
  <cp:revision>26</cp:revision>
  <dcterms:created xsi:type="dcterms:W3CDTF">2025-11-27T09:50:57Z</dcterms:created>
  <dcterms:modified xsi:type="dcterms:W3CDTF">2025-12-01T14:31:29Z</dcterms:modified>
</cp:coreProperties>
</file>